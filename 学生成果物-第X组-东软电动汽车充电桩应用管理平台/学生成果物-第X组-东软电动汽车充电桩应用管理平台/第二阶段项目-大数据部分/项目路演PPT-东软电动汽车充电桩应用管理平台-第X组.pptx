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b4dc16d0c4f86" /><Relationship Type="http://schemas.openxmlformats.org/officeDocument/2006/relationships/extended-properties" Target="/docProps/app.xml" Id="R370c4b85c2f74f45" /><Relationship Type="http://schemas.openxmlformats.org/officeDocument/2006/relationships/officeDocument" Target="/ppt/presentation.xml" Id="Rbbeee2f9dea2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2eae2090484ea0"/>
  </p:sldMasterIdLst>
  <p:notesMasterIdLst>
    <p:notesMasterId xmlns:r="http://schemas.openxmlformats.org/officeDocument/2006/relationships" r:id="R3e6893d3b3da4dd9"/>
  </p:notesMasterIdLst>
  <p:sldIdLst>
    <p:sldId xmlns:r="http://schemas.openxmlformats.org/officeDocument/2006/relationships" id="256" r:id="R6e22a5ff5f25439f"/>
    <p:sldId xmlns:r="http://schemas.openxmlformats.org/officeDocument/2006/relationships" id="257" r:id="R135d6552156242a1"/>
    <p:sldId xmlns:r="http://schemas.openxmlformats.org/officeDocument/2006/relationships" id="258" r:id="Rb8503f5aeb634a91"/>
    <p:sldId xmlns:r="http://schemas.openxmlformats.org/officeDocument/2006/relationships" id="259" r:id="Re8693ffdf0824562"/>
    <p:sldId xmlns:r="http://schemas.openxmlformats.org/officeDocument/2006/relationships" id="260" r:id="R4546151356334e51"/>
    <p:sldId xmlns:r="http://schemas.openxmlformats.org/officeDocument/2006/relationships" id="261" r:id="R935876350d0d46f3"/>
    <p:sldId xmlns:r="http://schemas.openxmlformats.org/officeDocument/2006/relationships" id="262" r:id="Rcb14c3824a0241bf"/>
    <p:sldId xmlns:r="http://schemas.openxmlformats.org/officeDocument/2006/relationships" id="263" r:id="Rd0ab0f3de43d4741"/>
    <p:sldId xmlns:r="http://schemas.openxmlformats.org/officeDocument/2006/relationships" id="264" r:id="Rf5f2584be24c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fb6de4e9484131" /><Relationship Type="http://schemas.openxmlformats.org/officeDocument/2006/relationships/slideMaster" Target="/ppt/slideMasters/slideMaster1.xml" Id="R792eae2090484ea0" /><Relationship Type="http://schemas.openxmlformats.org/officeDocument/2006/relationships/notesMaster" Target="/ppt/notesMasters/notesMaster1.xml" Id="R3e6893d3b3da4dd9" /><Relationship Type="http://schemas.openxmlformats.org/officeDocument/2006/relationships/presProps" Target="/ppt/presProps.xml" Id="R9f0210f011c2457d" /><Relationship Type="http://schemas.openxmlformats.org/officeDocument/2006/relationships/tableStyles" Target="/ppt/tableStyles.xml" Id="Rd8ee431a0fc04021" /><Relationship Type="http://schemas.openxmlformats.org/officeDocument/2006/relationships/slide" Target="/ppt/slides/slide1.xml" Id="R6e22a5ff5f25439f" /><Relationship Type="http://schemas.openxmlformats.org/officeDocument/2006/relationships/slide" Target="/ppt/slides/slide2.xml" Id="R135d6552156242a1" /><Relationship Type="http://schemas.openxmlformats.org/officeDocument/2006/relationships/slide" Target="/ppt/slides/slide3.xml" Id="Rb8503f5aeb634a91" /><Relationship Type="http://schemas.openxmlformats.org/officeDocument/2006/relationships/slide" Target="/ppt/slides/slide4.xml" Id="Re8693ffdf0824562" /><Relationship Type="http://schemas.openxmlformats.org/officeDocument/2006/relationships/slide" Target="/ppt/slides/slide5.xml" Id="R4546151356334e51" /><Relationship Type="http://schemas.openxmlformats.org/officeDocument/2006/relationships/slide" Target="/ppt/slides/slide6.xml" Id="R935876350d0d46f3" /><Relationship Type="http://schemas.openxmlformats.org/officeDocument/2006/relationships/slide" Target="/ppt/slides/slide7.xml" Id="Rcb14c3824a0241bf" /><Relationship Type="http://schemas.openxmlformats.org/officeDocument/2006/relationships/slide" Target="/ppt/slides/slide8.xml" Id="Rd0ab0f3de43d4741" /><Relationship Type="http://schemas.openxmlformats.org/officeDocument/2006/relationships/slide" Target="/ppt/slides/slide9.xml" Id="Rf5f2584be24c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38d0df8f74c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13068926348f3" /><Relationship Type="http://schemas.openxmlformats.org/officeDocument/2006/relationships/notesMaster" Target="/ppt/notesMasters/notesMaster1.xml" Id="Rc99564eec0dc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e20aa6e2d4031" /><Relationship Type="http://schemas.openxmlformats.org/officeDocument/2006/relationships/notesMaster" Target="/ppt/notesMasters/notesMaster1.xml" Id="R494dd349c965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2b14e96194dd4" /><Relationship Type="http://schemas.openxmlformats.org/officeDocument/2006/relationships/notesMaster" Target="/ppt/notesMasters/notesMaster1.xml" Id="Ra68cbf658061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5e3db027b4638" /><Relationship Type="http://schemas.openxmlformats.org/officeDocument/2006/relationships/notesMaster" Target="/ppt/notesMasters/notesMaster1.xml" Id="Rfbeed175196e47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60f0101c14dd4" /><Relationship Type="http://schemas.openxmlformats.org/officeDocument/2006/relationships/notesMaster" Target="/ppt/notesMasters/notesMaster1.xml" Id="R9405188c6ce04e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62016a1a034502" /><Relationship Type="http://schemas.openxmlformats.org/officeDocument/2006/relationships/notesMaster" Target="/ppt/notesMasters/notesMaster1.xml" Id="Re2720b5b17cf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cd8dd9da444d99" /><Relationship Type="http://schemas.openxmlformats.org/officeDocument/2006/relationships/notesMaster" Target="/ppt/notesMasters/notesMaster1.xml" Id="R8ec4660b06bc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bfbbf8e084922" /><Relationship Type="http://schemas.openxmlformats.org/officeDocument/2006/relationships/notesMaster" Target="/ppt/notesMasters/notesMaster1.xml" Id="R8d1ce04914f74f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2e9c1bbca4803" /><Relationship Type="http://schemas.openxmlformats.org/officeDocument/2006/relationships/notesMaster" Target="/ppt/notesMasters/notesMaster1.xml" Id="Re28a2d17ad0b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《项目说明书-东软电动汽车充电桩应用管理平台》</a:t>
            </a:r>
          </a:p>
          <a:p xmlns:a="http://schemas.openxmlformats.org/drawingml/2006/main">
            <a:r>
              <a:t>- 学生提交材料中的项目路演PPT说明页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《04团队贡献度-第X组-组长姓名.xlsx》占位方案</a:t>
            </a:r>
          </a:p>
          <a:p xmlns:a="http://schemas.openxmlformats.org/drawingml/2006/main">
            <a:r>
              <a:t>- 学生提交材料中的PPT页2要求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《项目说明书-东软电动汽车充电桩应用管理平台》功能要求</a:t>
            </a:r>
          </a:p>
          <a:p xmlns:a="http://schemas.openxmlformats.org/drawingml/2006/main">
            <a:r>
              <a:t>- ChargingPlatform/server/database_manager.cpp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ChargingPlatform/client/network_client.cpp</a:t>
            </a:r>
          </a:p>
          <a:p xmlns:a="http://schemas.openxmlformats.org/drawingml/2006/main">
            <a:r>
              <a:t>- ChargingPlatform/server/tcp_server_worker.cpp</a:t>
            </a:r>
          </a:p>
          <a:p xmlns:a="http://schemas.openxmlformats.org/drawingml/2006/main">
            <a:r>
              <a:t>- ChargingPlatform/server/database_manager.cpp</a:t>
            </a:r>
          </a:p>
          <a:p xmlns:a="http://schemas.openxmlformats.org/drawingml/2006/main">
            <a:r>
              <a:t>- ChargingPlatform/analytics/generate_dashboard.py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ChargingPlatform/client/mainwindow.ui</a:t>
            </a:r>
          </a:p>
          <a:p xmlns:a="http://schemas.openxmlformats.org/drawingml/2006/main">
            <a:r>
              <a:t>- ChargingPlatform/server/mainwindow.ui</a:t>
            </a:r>
          </a:p>
          <a:p xmlns:a="http://schemas.openxmlformats.org/drawingml/2006/main">
            <a:r>
              <a:t>- ChargingPlatform/analytics/dashboard/index.html</a:t>
            </a:r>
          </a:p>
          <a:p xmlns:a="http://schemas.openxmlformats.org/drawingml/2006/main">
            <a:r>
              <a:t>- 学生提交材料中的PPT页5要求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ChargingPlatform/analytics/dashboard/data.json（脚本生成的演示数据）</a:t>
            </a:r>
          </a:p>
          <a:p xmlns:a="http://schemas.openxmlformats.org/drawingml/2006/main">
            <a:r>
              <a:t>- ChargingPlatform/analytics/generate_dashboard.py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《03测试用例-第X组.xlsx》</a:t>
            </a:r>
          </a:p>
          <a:p xmlns:a="http://schemas.openxmlformats.org/drawingml/2006/main">
            <a:r>
              <a:t>- ChargingPlatform工程静态检查与generate_dashboard.py执行结果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《项目开发总结报告》项目经验及心得体会章节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学生成果物目录结构与交付清单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95794ecf44f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9ca0c078344cd6" /><Relationship Type="http://schemas.openxmlformats.org/officeDocument/2006/relationships/slideLayout" Target="/ppt/slideLayouts/slideLayout1.xml" Id="R941cbdbfc1d74e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1cbdbfc1d74e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01ee4349241c0" /><Relationship Type="http://schemas.openxmlformats.org/officeDocument/2006/relationships/notesSlide" Target="/ppt/notesSlides/notesSlide1.xml" Id="R3cbd72f7f2504f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68c4d22a94402" /><Relationship Type="http://schemas.openxmlformats.org/officeDocument/2006/relationships/notesSlide" Target="/ppt/notesSlides/notesSlide2.xml" Id="R9fe3471b7de943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9941466874cec" /><Relationship Type="http://schemas.openxmlformats.org/officeDocument/2006/relationships/notesSlide" Target="/ppt/notesSlides/notesSlide3.xml" Id="Rb8eb1510ee11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992431c4749a1" /><Relationship Type="http://schemas.openxmlformats.org/officeDocument/2006/relationships/notesSlide" Target="/ppt/notesSlides/notesSlide4.xml" Id="R94dba8bd60eb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7e4cada91447f" /><Relationship Type="http://schemas.openxmlformats.org/officeDocument/2006/relationships/notesSlide" Target="/ppt/notesSlides/notesSlide5.xml" Id="R3e596d8767fc4c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327a7ec2e40de" /><Relationship Type="http://schemas.openxmlformats.org/officeDocument/2006/relationships/chart" Target="/ppt/slides/charts/chart1.xml" Id="R37c24caf616a42e9" /><Relationship Type="http://schemas.openxmlformats.org/officeDocument/2006/relationships/notesSlide" Target="/ppt/notesSlides/notesSlide6.xml" Id="Rceb30201be2448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a4f72560b4b63" /><Relationship Type="http://schemas.openxmlformats.org/officeDocument/2006/relationships/notesSlide" Target="/ppt/notesSlides/notesSlide7.xml" Id="R9e323e06ef2143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b6d54d0c04611" /><Relationship Type="http://schemas.openxmlformats.org/officeDocument/2006/relationships/notesSlide" Target="/ppt/notesSlides/notesSlide8.xml" Id="Rea9eda8b294e44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1c5e19cf449ee" /><Relationship Type="http://schemas.openxmlformats.org/officeDocument/2006/relationships/notesSlide" Target="/ppt/notesSlides/notesSlide9.xml" Id="R68356050832c4dc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预测负荷 kW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8"/>
              <c:pt idx="0">
                <c:v>19:00</c:v>
              </c:pt>
              <c:pt idx="1">
                <c:v>22:00</c:v>
              </c:pt>
              <c:pt idx="2">
                <c:v>01:00</c:v>
              </c:pt>
              <c:pt idx="3">
                <c:v>04:00</c:v>
              </c:pt>
              <c:pt idx="4">
                <c:v>07:00</c:v>
              </c:pt>
              <c:pt idx="5">
                <c:v>10:00</c:v>
              </c:pt>
              <c:pt idx="6">
                <c:v>13:00</c:v>
              </c:pt>
              <c:pt idx="7">
                <c:v>16:00</c:v>
              </c:pt>
            </c:strLit>
          </c:cat>
          <c:val>
            <c:numLit>
              <c:formatCode>General</c:formatCode>
              <c:ptCount val="8"/>
              <c:pt idx="0">
                <c:v>436.7</c:v>
              </c:pt>
              <c:pt idx="1">
                <c:v>409.9</c:v>
              </c:pt>
              <c:pt idx="2">
                <c:v>386</c:v>
              </c:pt>
              <c:pt idx="3">
                <c:v>378.8</c:v>
              </c:pt>
              <c:pt idx="4">
                <c:v>392.6</c:v>
              </c:pt>
              <c:pt idx="5">
                <c:v>419.4</c:v>
              </c:pt>
              <c:pt idx="6">
                <c:v>443.4</c:v>
              </c:pt>
              <c:pt idx="7">
                <c:v>450.7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3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C7124-0BA4-4486-86F8-C5B28384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05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NEUSOFT TRAINING · QT /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397A4-708F-4695-99AE-7A1229F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0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2026 · 第X组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E04E-0217-4B5B-A3ED-B720FAE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52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E9B2-7A26-45A8-9342-0C42B37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9810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43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东软电动汽车充电桩</a:t>
            </a:r>
          </a:p>
          <a:p xmlns:a="http://schemas.openxmlformats.org/drawingml/2006/main">
            <a:pPr algn="l">
              <a:defRPr sz="43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43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应用管理平台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5AFF3-515C-46D0-9AC5-9D0EAC9F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72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从找站、充电、结算到运营预测的完整数据闭环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19150" y="53149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66314-3313-4AAE-AC97-CDE685A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组长 / 成员：请替换真实姓名与学号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45E35-E7D6-4F5E-BD95-02EF37A4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626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答辩日期：2026-09-03</a:t>
            </a:r>
          </a:p>
        </p:txBody>
      </p:sp>
    </p:spTree>
    <p:extLst>
      <p:ext uri="{BB962C8B-B14F-4D97-AF65-F5344CB8AC3E}">
        <p14:creationId xmlns:p14="http://schemas.microsoft.com/office/powerpoint/2010/main" val="117249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60D31-0B92-4197-8143-D245015C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TEAM /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3A915-4041-4F48-A79A-1451F80A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人员分工与协作边界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73127-5ABF-4C41-AD23-E6366AEB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20BB-EAE9-482A-85F2-F636337F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以下姓名与比例为占位建议；提交前必须按真实成员和实际工作量替换。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952500" y="32004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954DE-409A-4CDB-82DE-8626C0EF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6B6C3-8FE5-45BB-8DD1-62EEA7B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034EB-1068-46E8-81B5-3435224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成员A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CF6BC-0200-41D7-A841-72712F0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组长 · 需求 / 架构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9BBD1-4E6A-4EEA-88A9-F8EBA5E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5981C-CABF-4889-9940-9B74990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22%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2EBDA-4432-4482-8918-F6043261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成员B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D0349-225A-4CF2-AF6D-A6EDBA18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用户端 / 充电流程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31B6F-E3E9-4970-9B34-664D763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EF9DF-B597-4A0A-AA52-005AFC52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7DC00-45CB-461A-9C13-F14C176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成员C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13A5D-0CE9-4FA7-9E49-6DD408CB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管理端 / Qt Charts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64277-5C11-4697-98FD-7D0415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9C657-3F8A-4143-80BC-7912C7F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16%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19C4D-3CD3-451C-8A83-4FC86FF4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成员D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EA738-AD97-4F7A-8A8C-58879F1A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SQLite / TCP / 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B783F-6E88-4A2F-BDC9-B1CAAE7A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BB932-5069-4931-B2EC-FA97C9D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14%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5C481-3F7B-4CF6-8746-692A405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9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成员E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70743-31C8-48DE-BDB1-20B1D4BE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预测 / 大屏 / 文档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DE469-52FE-4354-AA22-B22AA66A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EC5F1-7CC1-4D3B-BC05-9AC263B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协作原则：接口先行 · 数据一致 · 互相评审 · 一人主责、全组验收</a:t>
            </a:r>
          </a:p>
        </p:txBody>
      </p:sp>
    </p:spTree>
    <p:extLst>
      <p:ext uri="{BB962C8B-B14F-4D97-AF65-F5344CB8AC3E}">
        <p14:creationId xmlns:p14="http://schemas.microsoft.com/office/powerpoint/2010/main" val="821109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86807-E0FE-4C90-B8B2-2E154F4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WHY / BUSINESS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2185B-FDE0-43B0-8F31-6745E8AB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把分散的充电动作，连成可运营的闭环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46FB5-F472-4B60-9B87-08C7BC3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06C10-0FCB-452D-B704-72DBA01F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车主端解决“去哪里、能不能充、如何结算”；管理端回答“设备是否健康、营收如何、下一小时负荷多大”。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3202F-1243-4192-B622-4CB4971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419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543C0-B357-4C89-A35F-82D7DA67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5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E9766-37EF-487B-AA6C-11108DE8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5A598-F241-4778-B3DF-BF106C4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附近电站 · 距离排序</a:t>
            </a:r>
          </a:p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空闲桩 · 电价 · 导航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C1342-0C15-4499-8303-6E89B415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9850"/>
            <a:ext cx="2419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6FC3F-D91E-42C6-8D1D-0ABA72AC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194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5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3E6C1-AE52-4CD9-8C5D-5EC3A4FF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充电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6E1C9-CF88-4248-9314-BB2D4CAC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148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开单 · 计时 · 结束</a:t>
            </a:r>
          </a:p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余额校验 · 事务结算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2D052-18BF-47E7-A19D-9105FD1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419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8BA3E-6FD0-4D00-8127-4ABBC48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5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9EAF5-AAB5-45DE-A75A-C74259E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4E37F-A49C-4163-84CD-FE579F0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营收 · 设备 · 用户</a:t>
            </a:r>
          </a:p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站点 · 订单 · 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7E85A-3662-4579-8507-25C9625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419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D115D-FDA9-4B57-8349-E0E39103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55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F2922-0AA9-4064-B60B-A3D4C29C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1D6AF-D631-479F-B18A-937CDD44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历史负荷 · Ridge</a:t>
            </a:r>
          </a:p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24小时峰值与可用数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25EB2-D64F-4E5F-A0EC-172B664C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7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关键判断：订单、余额和电桩状态必须在同一事务中变化。</a:t>
            </a:r>
          </a:p>
        </p:txBody>
      </p:sp>
    </p:spTree>
    <p:extLst>
      <p:ext uri="{BB962C8B-B14F-4D97-AF65-F5344CB8AC3E}">
        <p14:creationId xmlns:p14="http://schemas.microsoft.com/office/powerpoint/2010/main" val="113093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52D65-2F2D-48EC-8FCE-43B15387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ARCHITECTURE /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0F956-625A-4401-9B50-9830611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一条可解释、可复现的数据链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05A76-D273-4A3A-B6C0-7E6E9CA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A38E5-7B20-437C-B830-1877A55C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Qt UI 与网络解耦，服务端集中处理业务和 SQLite；分析脚本读取同一数据库，向 ECharts 输出 JSON。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952500" y="33909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0D0F3-D6C0-4211-8CC7-39CC6EFE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0E4D-2CB7-4992-AEF9-3F93A8B4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95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Qt Widgets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0485F-73BE-4CCB-8C38-54358099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用户端 / 管理端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25B92-9C54-4276-918C-D69E46E3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71BAB-3181-4D41-AF65-EAA5DAEF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TCP +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D1CDC-ED76-451E-B632-2320EF8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00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换行分帧 / requestId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B0DDA-C338-4111-9115-EA7D68D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37842-C78A-41DE-8FFA-734CC65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Qt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E1248-99F2-40C1-BE72-5A2EE95A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QThread / 信号槽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EB144-D035-4214-BE75-2FE27B0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21585-B846-4692-BF08-3F4A5394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SQLite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4B5FC-644B-433F-ACE1-A4921573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约束 / 预处理 / 事务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78FC4-E7A9-423F-A0F9-83438BCE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181A6-C515-466E-AD86-095A2F06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8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80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Python → ECharts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381BA-DF51-46C5-8FB1-E4EC036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Ridge / 24h预测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0E402-7079-47BA-AA43-6D76CBE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3B402-2DAE-49D2-947D-173E485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1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线程边界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48BCA-3E1D-42B5-B2BB-13A32B2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006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网络对象位于工作线程；数据库与界面集中在主线程，跨线程仅传递值对象。</a:t>
            </a:r>
          </a:p>
        </p:txBody>
      </p:sp>
    </p:spTree>
    <p:extLst>
      <p:ext uri="{BB962C8B-B14F-4D97-AF65-F5344CB8AC3E}">
        <p14:creationId xmlns:p14="http://schemas.microsoft.com/office/powerpoint/2010/main" val="1201676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F03DF-14EC-414B-B516-304A1978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PRODUCT / RUN-TIME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C391C-86F8-4E02-81BE-F16B26C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核心界面：三张真实截图完成现场证据链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3105-686C-45A8-BAD7-30186CA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15858-82C8-498A-863B-7331319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38A18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1" i="0">
                <a:solidFill>
                  <a:srgbClr val="D38A18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占位框不能作为最终证据。请在本人 Ubuntu / Qt 环境按下列说明替换为真实运行截图。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AD132-9003-4BDE-90FB-C7A50A3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33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FA81F-5670-46AB-B5C9-F72FEDC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RUN-TIME</a:t>
            </a:r>
          </a:p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SCREENSHOT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2AF7B-83C0-4732-BA04-5DDC8943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A · 用户端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8AF3A-8072-4DF9-8A89-B1682304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附近电站 + 空闲桩</a:t>
            </a:r>
          </a:p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或充电进行中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FD29B-8386-49F4-B642-6821454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95500"/>
            <a:ext cx="3333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6D674-DD43-4783-ADBA-73DD3329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051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RUN-TIME</a:t>
            </a:r>
          </a:p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7F589-18B3-4332-BAFE-C46FE71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819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B · 管理端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EFEE2-99B6-47B9-B639-35C3A8FA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运营总览 + Qt Charts</a:t>
            </a:r>
          </a:p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或电桩重启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248E1-50B0-4F90-9C4E-50D3B19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33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18407-3C04-40AF-BC30-AAAB9B09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RUN-TIME</a:t>
            </a:r>
          </a:p>
          <a:p xmlns:a="http://schemas.openxmlformats.org/drawingml/2006/main">
            <a:pPr algn="ctr">
              <a:def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SCREENSHOT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F2497-EBEA-4CB9-B613-3F0525B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9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C · 数据大屏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BC1D8-CA6B-46C9-B26F-F344DB59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指标 + 24小时预测</a:t>
            </a:r>
          </a:p>
          <a:p xmlns:a="http://schemas.openxmlformats.org/drawingml/2006/main">
            <a:pPr algn="l">
              <a:def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浏览器地址栏可见</a:t>
            </a:r>
          </a:p>
        </p:txBody>
      </p:sp>
    </p:spTree>
    <p:extLst>
      <p:ext uri="{BB962C8B-B14F-4D97-AF65-F5344CB8AC3E}">
        <p14:creationId xmlns:p14="http://schemas.microsoft.com/office/powerpoint/2010/main" val="1808284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1ACBC-54AD-4905-9F76-C7E63B3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DATA /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7121D-0D48-41F1-BC3D-87D9496D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24小时负荷预测把历史数据转成排班提示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8D332-9ED4-4F94-BBB5-C74544F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543050"/>
          <a:ext xmlns:a="http://schemas.openxmlformats.org/drawingml/2006/main" cx="6858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c24caf616a42e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F7A8E-D8F5-4512-ABB8-2F0D3FF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系统演示数据 · 每3小时取样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2381F-1DE8-4A44-9854-67939E63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43050"/>
            <a:ext cx="36957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8409A-3FFF-49C3-AAB9-DA1FF157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30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450.7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92A02-F0EE-4D85-A569-B8B66B6E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90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预测峰值 · 09-03 16:00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857FB-2EC6-4C20-9D31-70EBD852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3695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8871A-EF7B-4CD6-8902-55D299D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CDD7A-531B-4F23-B0FA-7FEE0447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个未来小时点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0EADC-FE99-4372-BD4C-1D5F9B42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14900"/>
            <a:ext cx="3695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模型：Ridge Linear Regression</a:t>
            </a:r>
          </a:p>
          <a:p xmlns:a="http://schemas.openxmlformats.org/drawingml/2006/main">
            <a:pPr algn="l">
              <a:def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特征：小时周期 / 星期周期 / 周末 / 站点 / 趋势</a:t>
            </a:r>
          </a:p>
        </p:txBody>
      </p:sp>
    </p:spTree>
    <p:extLst>
      <p:ext uri="{BB962C8B-B14F-4D97-AF65-F5344CB8AC3E}">
        <p14:creationId xmlns:p14="http://schemas.microsoft.com/office/powerpoint/2010/main" val="1782541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D8D80-8844-4119-B9CF-D9130091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TEST / 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2492-EA97-4543-9962-71899572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质量不是“能打开”，而是状态变化可核对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63904-AAFF-44C5-BD7B-B2A29F0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07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2305050"/>
            <a:ext cx="7219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5797A-CDD3-48F2-A62F-398A7229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92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D999D-120F-4693-B927-2DD30F5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功能与异常测试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2A868-5215-4D85-92C8-C7C1B45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登录、找站、充值、事务、冻结、断网、预测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3219450"/>
            <a:ext cx="7219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13235-C9D5-4AEF-B730-D68114B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9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20E94-1033-407B-A931-DFEC07F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核心数据表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8BDB5-FE0B-4410-B527-48D6001C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admins / users / stations / chargers / orders / hourly_load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4133850"/>
            <a:ext cx="7219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65BC8-33F4-495A-BB29-00EC6E80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9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C2FB9-F977-45F9-97C1-22A730F7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统一消息协议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D6FEF-273C-472C-959F-7506AFFB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换行JSON + requestId + ok/message/data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5048250"/>
            <a:ext cx="7219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4314E-DBDD-4F2C-A457-CF6890BE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9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BD4ED-A437-4E76-AC4F-351F6C0E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已知公式错误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56690-14BD-4672-BE9F-55E3B05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2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贡献度合计=100%；表格公式扫描未发现错误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E17BB-91F5-4513-A611-623A7D5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32956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940F9-4FFE-47B7-AF14-58C12FE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950" b="1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当前验证边界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84F1F-7650-4EB8-98C9-6748DDD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6098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已通过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UI XML 解析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Python 语法与数据生成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JSON 结构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文档/表格结构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待本人环境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Qt Kit 编译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界面联调与录屏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0" i="0">
                <a:solidFill>
                  <a:srgbClr val="FFFF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• 腾讯地图外网验证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78679-A386-428C-8B25-45D62CE7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7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验收时同时核对 UI、数据库和管理端指标。</a:t>
            </a:r>
          </a:p>
        </p:txBody>
      </p:sp>
    </p:spTree>
    <p:extLst>
      <p:ext uri="{BB962C8B-B14F-4D97-AF65-F5344CB8AC3E}">
        <p14:creationId xmlns:p14="http://schemas.microsoft.com/office/powerpoint/2010/main" val="1870366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33B09-C142-44A7-8DC5-52E5998E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75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LEARNINGS / DIFFICULTIES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21A75-30DC-4D9A-B332-42EFEBC7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8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三次关键转变：从能写，到能解释、能验收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C72B4-A2C4-49A4-8A92-EDFBF81D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9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92480-5A97-4804-83C6-4C99200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39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499A5-2FE2-43EF-98A6-13C0C414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287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0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从控件到状态机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DD380-3AE4-4453-992D-8D278C3A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57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先定义用户、订单、电桩和余额的状态约束，再写槽函数。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1657350" y="2533650"/>
            <a:ext cx="969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07680-AC78-4766-8178-2F84E0B1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3900" b="1" i="0">
                <a:solidFill>
                  <a:srgbClr val="B8BCC4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8E70E-8DFD-4B09-B7B9-F227AEB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622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0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从线程数量到线程边界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37A42-B9D5-42E7-B435-0299F44F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网络线程只管连接与分帧；SQLite集中访问，退出可控。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657350" y="3867150"/>
            <a:ext cx="969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273D5-FAEB-42E1-974E-813D690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39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0E79A-CEC8-4C3B-8E74-FE0951C5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957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025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从静态图到数据链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1BE01-E274-4E63-A43E-1918394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0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大屏读取业务库，显示模型名称、样本数和峰值，结果可追溯。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657350" y="5200650"/>
            <a:ext cx="969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07E3D-FFA8-46B8-AA0B-A8D4D502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095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F6B8A-7937-41B5-B372-282067FB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53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3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后续：密码哈希与TLS · 真实定位 · 预约排队 · 预测误差评估 · 自动化回归</a:t>
            </a:r>
          </a:p>
        </p:txBody>
      </p:sp>
    </p:spTree>
    <p:extLst>
      <p:ext uri="{BB962C8B-B14F-4D97-AF65-F5344CB8AC3E}">
        <p14:creationId xmlns:p14="http://schemas.microsoft.com/office/powerpoint/2010/main" val="1468871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B552A-AA16-4004-9BFF-361C4A6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05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FINAL /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76A4B-86A0-4A85-A4E7-8FC9AB6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6150" b="1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11121-2558-4183-89F0-D02604F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2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让每一次充电，都留下可运营、可验证的数据。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43243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9174A-021B-483A-BDA4-CB397223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500" b="1" i="0">
                <a:solidFill>
                  <a:srgbClr val="67717E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提交前最后三项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FA6F-A930-400F-B24F-59CE324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01  替换姓名 / 学号 / 贡献度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02  粘贴真实运行截图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1650" b="0" i="0">
                <a:solidFill>
                  <a:srgbClr val="101820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03  补录个人与小组 MP4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1DD43-BBCE-405D-94F2-E1D443D5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defRPr>
            </a:pPr>
            <a:r>
              <a:rPr sz="2100" b="1" i="0">
                <a:solidFill>
                  <a:srgbClr val="3D8DFF"/>
                </a:solidFill>
                <a:latin typeface="Microsoft YaHei, Noto Sans CJK SC, Arial, sans-serif"/>
                <a:ea typeface="Microsoft YaHei, Noto Sans CJK SC, Arial, sans-serif"/>
                <a:cs typeface="Microsoft YaHei, Noto Sans CJK SC, Arial, sans-serif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42500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2026-09-03T01:38:02.2570000Z</dcterms:created>
  <dcterms:modified xsi:type="dcterms:W3CDTF">2026-09-03T01:38:02.2570000Z</dcterms:modified>
</coreProperties>
</file>